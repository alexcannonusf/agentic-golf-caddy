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F3E20"/>
                </a:solidFill>
                <a:latin typeface="Georgia"/>
              </a:defRPr>
            </a:pPr>
            <a:r>
              <a:rPr sz="1300" b="0" i="0" u="none" strike="noStrike">
                <a:solidFill>
                  <a:srgbClr val="1F3E20"/>
                </a:solidFill>
                <a:latin typeface="Georgia"/>
              </a:rPr>
              <a:t>Risk flags surfaced by Adaptive Strategy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Risk flag occurrences</c:v>
                </c:pt>
              </c:strCache>
            </c:strRef>
          </c:tx>
          <c:spPr>
            <a:solidFill>
              <a:srgbClr val="2C5F2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F3E2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water_hazard</c:v>
                  </c:pt>
                  <c:pt idx="1">
                    <c:v>long_side_penalty</c:v>
                  </c:pt>
                  <c:pt idx="2">
                    <c:v>must_carry_hazard</c:v>
                  </c:pt>
                  <c:pt idx="3">
                    <c:v>low_player_conf.</c:v>
                  </c:pt>
                  <c:pt idx="4">
                    <c:v>left_side_hazard</c:v>
                  </c:pt>
                  <c:pt idx="5">
                    <c:v>carry_not_realistic</c:v>
                  </c:pt>
                  <c:pt idx="6">
                    <c:v>forced_layup</c:v>
                  </c:pt>
                  <c:pt idx="7">
                    <c:v>guardrail_override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76</c:v>
                </c:pt>
                <c:pt idx="1">
                  <c:v>67</c:v>
                </c:pt>
                <c:pt idx="2">
                  <c:v>42</c:v>
                </c:pt>
                <c:pt idx="3">
                  <c:v>36</c:v>
                </c:pt>
                <c:pt idx="4">
                  <c:v>30</c:v>
                </c:pt>
                <c:pt idx="5">
                  <c:v>4</c:v>
                </c:pt>
                <c:pt idx="6">
                  <c:v>4</c:v>
                </c:pt>
                <c:pt idx="7">
                  <c:v>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F3E2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C6E5C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CE5D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C6E5C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0-1.mp4"/><Relationship Id="rId2" Type="http://schemas.microsoft.com/office/2007/relationships/media" Target="../media/media-10-1.mp4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943600"/>
            <a:ext cx="12161520" cy="45720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080760"/>
            <a:ext cx="12161520" cy="1828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188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CAI 4520  ·  AGENTIC AI  ·  FINAL PROJECT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Agentic Golf Caddy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731520" y="29718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DE3C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bounded multi-agent system for trustworthy on-course club recommendations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31520" y="49377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Alex Cannon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28  ·  Solo presenter  ·  April 29, 2026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412480" y="3931920"/>
            <a:ext cx="3200400" cy="15544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412480" y="3931920"/>
            <a:ext cx="73152" cy="155448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41080" y="4069080"/>
            <a:ext cx="29260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 agents.
</a:t>
            </a:r>
            <a:pPr indent="0" marL="0">
              <a:buNone/>
            </a:pPr>
            <a:r>
              <a:rPr lang="en-US" sz="1400" dirty="0">
                <a:solidFill>
                  <a:srgbClr val="EDE3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core.
</a:t>
            </a:r>
            <a:pPr indent="0" marL="0">
              <a:buNone/>
            </a:pPr>
            <a:r>
              <a:rPr lang="en-US" sz="14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grounded outputs.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0881360" y="6355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4572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an agentic caddy?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603504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shot is a small puzzle.
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E1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Picking a club means juggling distance, wind, elevation, the lie, hazards, pin position, and your own tendencies — and you have about a minute to decide.
</a:t>
            </a:r>
            <a:pPr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Today’s tools make you choose.
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E1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Rangefinders give you a number with no reasoning. AI caddies sound smart but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E1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up yardages and don’t know what’s actually in your bag.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040880" y="1554480"/>
            <a:ext cx="45720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BCC9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040880" y="1554480"/>
            <a:ext cx="91440" cy="11887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1737360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818120" y="17190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Hallucination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818120" y="2121408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LLMs invent yardages and miss the gaps between your clubs.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040880" y="2880360"/>
            <a:ext cx="45720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BCC9B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040880" y="2880360"/>
            <a:ext cx="91440" cy="11887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9480" y="306324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818120" y="304495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Ambiguity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7818120" y="3447288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golfers say things like “a little breezy, ball sitting down.”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7040880" y="4206240"/>
            <a:ext cx="4572000" cy="1188720"/>
          </a:xfrm>
          <a:prstGeom prst="rect">
            <a:avLst/>
          </a:prstGeom>
          <a:solidFill>
            <a:srgbClr val="FFFFFF"/>
          </a:solidFill>
          <a:ln w="6350">
            <a:solidFill>
              <a:srgbClr val="BCC9B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7040880" y="4206240"/>
            <a:ext cx="91440" cy="11887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0" y="4389120"/>
            <a:ext cx="457200" cy="4572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818120" y="43708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Safety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7818120" y="4773168"/>
            <a:ext cx="3703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 lies and hazards need rules, not vibes.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457200" y="6473952"/>
            <a:ext cx="11247120" cy="10973"/>
          </a:xfrm>
          <a:prstGeom prst="rect">
            <a:avLst/>
          </a:prstGeom>
          <a:solidFill>
            <a:srgbClr val="BCC9B5"/>
          </a:solidFill>
          <a:ln w="12700">
            <a:solidFill>
              <a:srgbClr val="BCC9B5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457200" y="6510528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Golf Caddy  ·  Group 28  ·  Alex Cannon  ·  CAI 4520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0789920" y="65105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4572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already exists — and where it falls short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10881360" cy="4572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544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0" y="1554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852160" y="155448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503920" y="1554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 we attack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057400"/>
            <a:ext cx="1088136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BCC9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14884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GPS rangefinders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200400" y="214884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1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Arccos, Shot Scope, Garmin Approach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852160" y="214884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1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distances and shot tracking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503920" y="214884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a number — no reasoning, can’t take plain-English input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200400"/>
            <a:ext cx="10881360" cy="1143000"/>
          </a:xfrm>
          <a:prstGeom prst="rect">
            <a:avLst/>
          </a:prstGeom>
          <a:solidFill>
            <a:srgbClr val="DCE5D5"/>
          </a:solidFill>
          <a:ln w="6350">
            <a:solidFill>
              <a:srgbClr val="BCC9B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29184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/ LLM caddies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00400" y="329184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1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ChatGPT, Caddie.ai, Pin-High AI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52160" y="329184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1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Conversational, explains its thinking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503920" y="329184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 up yardages and doesn’t know what’s in your bag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4343400"/>
            <a:ext cx="10881360" cy="1143000"/>
          </a:xfrm>
          <a:prstGeom prst="rect">
            <a:avLst/>
          </a:prstGeom>
          <a:solidFill>
            <a:srgbClr val="FFFFFF"/>
          </a:solidFill>
          <a:ln w="6350">
            <a:solidFill>
              <a:srgbClr val="BCC9B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434840"/>
            <a:ext cx="21945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Multi-agent frameworks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200400" y="443484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1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AutoGen, MetaGPT, ReAct, Plan-and-Execute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852160" y="443484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E1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templates for agents working together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503920" y="4434840"/>
            <a:ext cx="30175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domain math, no fact-checking, no safety rules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31520" y="5577840"/>
            <a:ext cx="10881360" cy="777240"/>
          </a:xfrm>
          <a:prstGeom prst="rect">
            <a:avLst/>
          </a:prstGeom>
          <a:solidFill>
            <a:srgbClr val="1F3E20"/>
          </a:solidFill>
          <a:ln w="12700">
            <a:solidFill>
              <a:srgbClr val="1F3E2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" y="5577840"/>
            <a:ext cx="91440" cy="77724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60120" y="5650992"/>
            <a:ext cx="10561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gap.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combines </a:t>
            </a:r>
            <a:pPr indent="0" marL="0">
              <a:buNone/>
            </a:pPr>
            <a:r>
              <a:rPr lang="en-US" sz="14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golf math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an </a:t>
            </a:r>
            <a:pPr indent="0" marL="0">
              <a:buNone/>
            </a:pPr>
            <a:r>
              <a:rPr lang="en-US" sz="14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kept on a tight leash, then double-checked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for the same shot.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57200" y="6473952"/>
            <a:ext cx="11247120" cy="10973"/>
          </a:xfrm>
          <a:prstGeom prst="rect">
            <a:avLst/>
          </a:prstGeom>
          <a:solidFill>
            <a:srgbClr val="BCC9B5"/>
          </a:solidFill>
          <a:ln w="12700">
            <a:solidFill>
              <a:srgbClr val="BCC9B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6510528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Golf Caddy  ·  Group 28  ·  Alex Cannon  ·  CAI 4520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789920" y="65105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4572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challenges this project had to solve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645920"/>
            <a:ext cx="2212848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BCC9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45920"/>
            <a:ext cx="2212848" cy="914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80744" y="1920240"/>
            <a:ext cx="914400" cy="914400"/>
          </a:xfrm>
          <a:prstGeom prst="ellipse">
            <a:avLst/>
          </a:prstGeom>
          <a:solidFill>
            <a:srgbClr val="DCE5D5"/>
          </a:solidFill>
          <a:ln w="12700">
            <a:solidFill>
              <a:srgbClr val="97BC62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6484" y="2121408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2971800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Stop hallucination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14400" y="3703320"/>
            <a:ext cx="18470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the LLM pick only from clubs that are actually in your bag.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035808" y="1645920"/>
            <a:ext cx="2212848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BCC9B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035808" y="1645920"/>
            <a:ext cx="2212848" cy="914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85032" y="1920240"/>
            <a:ext cx="914400" cy="914400"/>
          </a:xfrm>
          <a:prstGeom prst="ellipse">
            <a:avLst/>
          </a:prstGeom>
          <a:solidFill>
            <a:srgbClr val="DCE5D5"/>
          </a:solidFill>
          <a:ln w="12700">
            <a:solidFill>
              <a:srgbClr val="97BC62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0772" y="2121408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172968" y="2971800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follow-ups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218688" y="3703320"/>
            <a:ext cx="18470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ask a question when the answer would actually change the club.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5340096" y="1645920"/>
            <a:ext cx="2212848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BCC9B5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340096" y="1645920"/>
            <a:ext cx="2212848" cy="914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989320" y="1920240"/>
            <a:ext cx="914400" cy="914400"/>
          </a:xfrm>
          <a:prstGeom prst="ellipse">
            <a:avLst/>
          </a:prstGeom>
          <a:solidFill>
            <a:srgbClr val="DCE5D5"/>
          </a:solidFill>
          <a:ln w="12700">
            <a:solidFill>
              <a:srgbClr val="97BC62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5060" y="2121408"/>
            <a:ext cx="502920" cy="5029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477256" y="2971800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Safety rules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5522976" y="3703320"/>
            <a:ext cx="18470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long carries from bunkers or deep rough where the shot isn’t realistic.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7644384" y="1645920"/>
            <a:ext cx="2212848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BCC9B5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644384" y="1645920"/>
            <a:ext cx="2212848" cy="914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8293608" y="1920240"/>
            <a:ext cx="914400" cy="914400"/>
          </a:xfrm>
          <a:prstGeom prst="ellipse">
            <a:avLst/>
          </a:prstGeom>
          <a:solidFill>
            <a:srgbClr val="DCE5D5"/>
          </a:solidFill>
          <a:ln w="12700">
            <a:solidFill>
              <a:srgbClr val="97BC62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9348" y="2121408"/>
            <a:ext cx="502920" cy="5029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7781544" y="2971800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Make it yours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7827264" y="3703320"/>
            <a:ext cx="18470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golfer is different — learn your distances and tendencies.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9948672" y="1645920"/>
            <a:ext cx="2212848" cy="3749040"/>
          </a:xfrm>
          <a:prstGeom prst="rect">
            <a:avLst/>
          </a:prstGeom>
          <a:solidFill>
            <a:srgbClr val="FFFFFF"/>
          </a:solidFill>
          <a:ln w="6350">
            <a:solidFill>
              <a:srgbClr val="BCC9B5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9948672" y="1645920"/>
            <a:ext cx="2212848" cy="914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10597896" y="1920240"/>
            <a:ext cx="914400" cy="914400"/>
          </a:xfrm>
          <a:prstGeom prst="ellipse">
            <a:avLst/>
          </a:prstGeom>
          <a:solidFill>
            <a:srgbClr val="DCE5D5"/>
          </a:solidFill>
          <a:ln w="12700">
            <a:solidFill>
              <a:srgbClr val="97BC62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03636" y="2121408"/>
            <a:ext cx="502920" cy="50292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0085832" y="2971800"/>
            <a:ext cx="19385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3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Prove it works</a:t>
            </a:r>
            <a:endParaRPr lang="en-US" sz="1500" dirty="0"/>
          </a:p>
        </p:txBody>
      </p:sp>
      <p:sp>
        <p:nvSpPr>
          <p:cNvPr id="34" name="Text 27"/>
          <p:cNvSpPr/>
          <p:nvPr/>
        </p:nvSpPr>
        <p:spPr>
          <a:xfrm>
            <a:off x="10131552" y="3703320"/>
            <a:ext cx="184708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C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public benchmark exists, so I built my own tests and logged real runs.</a:t>
            </a:r>
            <a:endParaRPr lang="en-US" sz="1200" dirty="0"/>
          </a:p>
        </p:txBody>
      </p:sp>
      <p:sp>
        <p:nvSpPr>
          <p:cNvPr id="35" name="Text 28"/>
          <p:cNvSpPr/>
          <p:nvPr/>
        </p:nvSpPr>
        <p:spPr>
          <a:xfrm>
            <a:off x="731520" y="57150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 principle.   </a:t>
            </a:r>
            <a:pPr indent="0" marL="0">
              <a:buNone/>
            </a:pPr>
            <a:r>
              <a:rPr lang="en-US" sz="1400" i="1" dirty="0">
                <a:solidFill>
                  <a:srgbClr val="0E1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math the same way every time. Let the LLM only pick from a short list of clubs — and then double-check what it says.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457200" y="6473952"/>
            <a:ext cx="11247120" cy="10973"/>
          </a:xfrm>
          <a:prstGeom prst="rect">
            <a:avLst/>
          </a:prstGeom>
          <a:solidFill>
            <a:srgbClr val="BCC9B5"/>
          </a:solidFill>
          <a:ln w="12700">
            <a:solidFill>
              <a:srgbClr val="BCC9B5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457200" y="6510528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Golf Caddy  ·  Group 28  ·  Alex Cannon  ·  CAI 4520</a:t>
            </a:r>
            <a:endParaRPr lang="en-US" sz="900" dirty="0"/>
          </a:p>
        </p:txBody>
      </p:sp>
      <p:sp>
        <p:nvSpPr>
          <p:cNvPr id="38" name="Text 31"/>
          <p:cNvSpPr/>
          <p:nvPr/>
        </p:nvSpPr>
        <p:spPr>
          <a:xfrm>
            <a:off x="10789920" y="65105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4572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7-agent pipeline with a deterministic core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26364" y="2103120"/>
            <a:ext cx="1417320" cy="1280160"/>
          </a:xfrm>
          <a:prstGeom prst="rect">
            <a:avLst/>
          </a:prstGeom>
          <a:solidFill>
            <a:srgbClr val="FFFFFF"/>
          </a:solidFill>
          <a:ln w="7620">
            <a:solidFill>
              <a:srgbClr val="BCC9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6364" y="2103120"/>
            <a:ext cx="1417320" cy="16459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59636" y="2130552"/>
            <a:ext cx="329184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59636" y="213055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72084" y="2359152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3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Interpreter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72084" y="294436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what you said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052828" y="2743200"/>
            <a:ext cx="146304" cy="0"/>
          </a:xfrm>
          <a:prstGeom prst="line">
            <a:avLst/>
          </a:prstGeom>
          <a:noFill/>
          <a:ln w="19050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208276" y="2103120"/>
            <a:ext cx="1417320" cy="1280160"/>
          </a:xfrm>
          <a:prstGeom prst="rect">
            <a:avLst/>
          </a:prstGeom>
          <a:solidFill>
            <a:srgbClr val="FFFFFF"/>
          </a:solidFill>
          <a:ln w="7620">
            <a:solidFill>
              <a:srgbClr val="BCC9B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08276" y="2103120"/>
            <a:ext cx="1417320" cy="16459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41548" y="2130552"/>
            <a:ext cx="329184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41548" y="213055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253996" y="2359152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Clarification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253996" y="294436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only if needed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34740" y="2743200"/>
            <a:ext cx="146304" cy="0"/>
          </a:xfrm>
          <a:prstGeom prst="line">
            <a:avLst/>
          </a:prstGeom>
          <a:noFill/>
          <a:ln w="19050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790188" y="2103120"/>
            <a:ext cx="1417320" cy="1280160"/>
          </a:xfrm>
          <a:prstGeom prst="rect">
            <a:avLst/>
          </a:prstGeom>
          <a:solidFill>
            <a:srgbClr val="FFFFFF"/>
          </a:solidFill>
          <a:ln w="7620">
            <a:solidFill>
              <a:srgbClr val="BCC9B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90188" y="2103120"/>
            <a:ext cx="1417320" cy="16459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23460" y="2130552"/>
            <a:ext cx="329184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23460" y="213055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835908" y="2359152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835908" y="294436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weather + course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5216652" y="2743200"/>
            <a:ext cx="146304" cy="0"/>
          </a:xfrm>
          <a:prstGeom prst="line">
            <a:avLst/>
          </a:prstGeom>
          <a:noFill/>
          <a:ln w="19050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372100" y="2103120"/>
            <a:ext cx="1417320" cy="1280160"/>
          </a:xfrm>
          <a:prstGeom prst="rect">
            <a:avLst/>
          </a:prstGeom>
          <a:solidFill>
            <a:srgbClr val="FFFFFF"/>
          </a:solidFill>
          <a:ln w="7620">
            <a:solidFill>
              <a:srgbClr val="BCC9B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72100" y="2103120"/>
            <a:ext cx="1417320" cy="164592"/>
          </a:xfrm>
          <a:prstGeom prst="rect">
            <a:avLst/>
          </a:prstGeom>
          <a:solidFill>
            <a:srgbClr val="1F3E20"/>
          </a:solidFill>
          <a:ln w="12700">
            <a:solidFill>
              <a:srgbClr val="1F3E2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5372" y="2130552"/>
            <a:ext cx="329184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F3E2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5372" y="213055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417820" y="2359152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17820" y="294436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the shot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798564" y="2743200"/>
            <a:ext cx="146304" cy="0"/>
          </a:xfrm>
          <a:prstGeom prst="line">
            <a:avLst/>
          </a:prstGeom>
          <a:noFill/>
          <a:ln w="19050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6954012" y="2103120"/>
            <a:ext cx="1417320" cy="1280160"/>
          </a:xfrm>
          <a:prstGeom prst="rect">
            <a:avLst/>
          </a:prstGeom>
          <a:solidFill>
            <a:srgbClr val="FFFFFF"/>
          </a:solidFill>
          <a:ln w="7620">
            <a:solidFill>
              <a:srgbClr val="BCC9B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954012" y="2103120"/>
            <a:ext cx="1417320" cy="16459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987284" y="2130552"/>
            <a:ext cx="329184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987284" y="213055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999732" y="2359152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Adaptive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1F3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Strategy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999732" y="294436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picks from short list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8380476" y="2743200"/>
            <a:ext cx="146304" cy="0"/>
          </a:xfrm>
          <a:prstGeom prst="line">
            <a:avLst/>
          </a:prstGeom>
          <a:noFill/>
          <a:ln w="19050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8535924" y="2103120"/>
            <a:ext cx="1417320" cy="1280160"/>
          </a:xfrm>
          <a:prstGeom prst="rect">
            <a:avLst/>
          </a:prstGeom>
          <a:solidFill>
            <a:srgbClr val="FFFFFF"/>
          </a:solidFill>
          <a:ln w="7620">
            <a:solidFill>
              <a:srgbClr val="BCC9B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535924" y="2103120"/>
            <a:ext cx="1417320" cy="16459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569196" y="2130552"/>
            <a:ext cx="329184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9569196" y="213055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8581644" y="2359152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Coach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581644" y="294436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explains the choice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9962388" y="2743200"/>
            <a:ext cx="146304" cy="0"/>
          </a:xfrm>
          <a:prstGeom prst="line">
            <a:avLst/>
          </a:prstGeom>
          <a:noFill/>
          <a:ln w="19050">
            <a:solidFill>
              <a:srgbClr val="2C5F2D"/>
            </a:solidFill>
            <a:prstDash val="solid"/>
            <a:tailEnd type="triangle"/>
          </a:ln>
        </p:spPr>
      </p:sp>
      <p:sp>
        <p:nvSpPr>
          <p:cNvPr id="47" name="Shape 45"/>
          <p:cNvSpPr/>
          <p:nvPr/>
        </p:nvSpPr>
        <p:spPr>
          <a:xfrm>
            <a:off x="10117836" y="2103120"/>
            <a:ext cx="1417320" cy="1280160"/>
          </a:xfrm>
          <a:prstGeom prst="rect">
            <a:avLst/>
          </a:prstGeom>
          <a:solidFill>
            <a:srgbClr val="FFFFFF"/>
          </a:solidFill>
          <a:ln w="7620">
            <a:solidFill>
              <a:srgbClr val="BCC9B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0117836" y="2103120"/>
            <a:ext cx="1417320" cy="16459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1151108" y="2130552"/>
            <a:ext cx="329184" cy="25603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1151108" y="2130552"/>
            <a:ext cx="329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163556" y="2359152"/>
            <a:ext cx="1325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3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Verifier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10163556" y="294436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C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fact-checks the answer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26364" y="3749040"/>
            <a:ext cx="201168" cy="20116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00684" y="37033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step (bounded)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3095244" y="3749040"/>
            <a:ext cx="201168" cy="20116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369564" y="37033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/ guardrail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5564124" y="3749040"/>
            <a:ext cx="201168" cy="201168"/>
          </a:xfrm>
          <a:prstGeom prst="rect">
            <a:avLst/>
          </a:prstGeom>
          <a:solidFill>
            <a:srgbClr val="1F3E20"/>
          </a:solidFill>
          <a:ln w="12700">
            <a:solidFill>
              <a:srgbClr val="1F3E2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838444" y="37033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math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8033004" y="3749040"/>
            <a:ext cx="201168" cy="201168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307324" y="37033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Real-data API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365760" y="4251960"/>
            <a:ext cx="36576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BCC9B5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365760" y="4251960"/>
            <a:ext cx="91440" cy="17830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6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480560"/>
            <a:ext cx="457200" cy="457200"/>
          </a:xfrm>
          <a:prstGeom prst="rect">
            <a:avLst/>
          </a:prstGeom>
        </p:spPr>
      </p:pic>
      <p:sp>
        <p:nvSpPr>
          <p:cNvPr id="64" name="Text 61"/>
          <p:cNvSpPr/>
          <p:nvPr/>
        </p:nvSpPr>
        <p:spPr>
          <a:xfrm>
            <a:off x="1143000" y="44531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Math core</a:t>
            </a:r>
            <a:endParaRPr lang="en-US" sz="1500" dirty="0"/>
          </a:p>
        </p:txBody>
      </p:sp>
      <p:sp>
        <p:nvSpPr>
          <p:cNvPr id="65" name="Text 62"/>
          <p:cNvSpPr/>
          <p:nvPr/>
        </p:nvSpPr>
        <p:spPr>
          <a:xfrm>
            <a:off x="594360" y="50292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and club selection are calculated the same way every time — no model in the loop.</a:t>
            </a:r>
            <a:endParaRPr lang="en-US" sz="1200" dirty="0"/>
          </a:p>
        </p:txBody>
      </p:sp>
      <p:sp>
        <p:nvSpPr>
          <p:cNvPr id="66" name="Shape 63"/>
          <p:cNvSpPr/>
          <p:nvPr/>
        </p:nvSpPr>
        <p:spPr>
          <a:xfrm>
            <a:off x="4251960" y="4251960"/>
            <a:ext cx="36576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BCC9B5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4251960" y="4251960"/>
            <a:ext cx="91440" cy="17830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6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4480560"/>
            <a:ext cx="457200" cy="457200"/>
          </a:xfrm>
          <a:prstGeom prst="rect">
            <a:avLst/>
          </a:prstGeom>
        </p:spPr>
      </p:pic>
      <p:sp>
        <p:nvSpPr>
          <p:cNvPr id="69" name="Text 65"/>
          <p:cNvSpPr/>
          <p:nvPr/>
        </p:nvSpPr>
        <p:spPr>
          <a:xfrm>
            <a:off x="5029200" y="44531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LLM on a leash</a:t>
            </a:r>
            <a:endParaRPr lang="en-US" sz="1500" dirty="0"/>
          </a:p>
        </p:txBody>
      </p:sp>
      <p:sp>
        <p:nvSpPr>
          <p:cNvPr id="70" name="Text 66"/>
          <p:cNvSpPr/>
          <p:nvPr/>
        </p:nvSpPr>
        <p:spPr>
          <a:xfrm>
            <a:off x="4480560" y="50292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only picks from a short list of 3–5 clubs that the math has already vetted.</a:t>
            </a:r>
            <a:endParaRPr lang="en-US" sz="1200" dirty="0"/>
          </a:p>
        </p:txBody>
      </p:sp>
      <p:sp>
        <p:nvSpPr>
          <p:cNvPr id="71" name="Shape 67"/>
          <p:cNvSpPr/>
          <p:nvPr/>
        </p:nvSpPr>
        <p:spPr>
          <a:xfrm>
            <a:off x="8138160" y="4251960"/>
            <a:ext cx="36576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BCC9B5"/>
            </a:solidFill>
            <a:prstDash val="solid"/>
          </a:ln>
        </p:spPr>
      </p:sp>
      <p:sp>
        <p:nvSpPr>
          <p:cNvPr id="72" name="Shape 68"/>
          <p:cNvSpPr/>
          <p:nvPr/>
        </p:nvSpPr>
        <p:spPr>
          <a:xfrm>
            <a:off x="8138160" y="4251960"/>
            <a:ext cx="91440" cy="17830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7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4480560"/>
            <a:ext cx="457200" cy="457200"/>
          </a:xfrm>
          <a:prstGeom prst="rect">
            <a:avLst/>
          </a:prstGeom>
        </p:spPr>
      </p:pic>
      <p:sp>
        <p:nvSpPr>
          <p:cNvPr id="74" name="Text 69"/>
          <p:cNvSpPr/>
          <p:nvPr/>
        </p:nvSpPr>
        <p:spPr>
          <a:xfrm>
            <a:off x="8915400" y="44531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3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Always verified</a:t>
            </a:r>
            <a:endParaRPr lang="en-US" sz="1500" dirty="0"/>
          </a:p>
        </p:txBody>
      </p:sp>
      <p:sp>
        <p:nvSpPr>
          <p:cNvPr id="75" name="Text 70"/>
          <p:cNvSpPr/>
          <p:nvPr/>
        </p:nvSpPr>
        <p:spPr>
          <a:xfrm>
            <a:off x="8366760" y="50292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explanation gets fact-checked against the real decision — and rewritten safely if it drifts.</a:t>
            </a:r>
            <a:endParaRPr lang="en-US" sz="1200" dirty="0"/>
          </a:p>
        </p:txBody>
      </p:sp>
      <p:sp>
        <p:nvSpPr>
          <p:cNvPr id="76" name="Shape 71"/>
          <p:cNvSpPr/>
          <p:nvPr/>
        </p:nvSpPr>
        <p:spPr>
          <a:xfrm>
            <a:off x="457200" y="6473952"/>
            <a:ext cx="11247120" cy="10973"/>
          </a:xfrm>
          <a:prstGeom prst="rect">
            <a:avLst/>
          </a:prstGeom>
          <a:solidFill>
            <a:srgbClr val="BCC9B5"/>
          </a:solidFill>
          <a:ln w="12700">
            <a:solidFill>
              <a:srgbClr val="BCC9B5"/>
            </a:solidFill>
            <a:prstDash val="solid"/>
          </a:ln>
        </p:spPr>
      </p:sp>
      <p:sp>
        <p:nvSpPr>
          <p:cNvPr id="77" name="Text 72"/>
          <p:cNvSpPr/>
          <p:nvPr/>
        </p:nvSpPr>
        <p:spPr>
          <a:xfrm>
            <a:off x="457200" y="6510528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Golf Caddy  ·  Group 28  ·  Alex Cannon  ·  CAI 4520</a:t>
            </a:r>
            <a:endParaRPr lang="en-US" sz="900" dirty="0"/>
          </a:p>
        </p:txBody>
      </p:sp>
      <p:sp>
        <p:nvSpPr>
          <p:cNvPr id="78" name="Text 73"/>
          <p:cNvSpPr/>
          <p:nvPr/>
        </p:nvSpPr>
        <p:spPr>
          <a:xfrm>
            <a:off x="10789920" y="65105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4572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ROLES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each agent actually does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508760"/>
            <a:ext cx="10899648" cy="38404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0876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651760" y="15087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0" y="150876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→ outputs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046720" y="1508760"/>
            <a:ext cx="3474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1892808"/>
            <a:ext cx="10899648" cy="530352"/>
          </a:xfrm>
          <a:prstGeom prst="rect">
            <a:avLst/>
          </a:prstGeom>
          <a:solidFill>
            <a:srgbClr val="FFFFFF"/>
          </a:solidFill>
          <a:ln w="5080">
            <a:solidFill>
              <a:srgbClr val="BCC9B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1892808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 Interpreter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651760" y="2029968"/>
            <a:ext cx="868680" cy="25603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202996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40480" y="1892808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shot description → structured shot data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046720" y="1892808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Golfers can just talk — no forms to fill out.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2423160"/>
            <a:ext cx="10899648" cy="530352"/>
          </a:xfrm>
          <a:prstGeom prst="rect">
            <a:avLst/>
          </a:prstGeom>
          <a:solidFill>
            <a:srgbClr val="DCE5D5"/>
          </a:solidFill>
          <a:ln w="5080">
            <a:solidFill>
              <a:srgbClr val="BCC9B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242316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Clarification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651760" y="2560320"/>
            <a:ext cx="868680" cy="25603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51760" y="256032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840480" y="2423160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 data + your bag → one follow-up question if needed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046720" y="2423160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asks when two clubs are within 20 yards of each other.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2953512"/>
            <a:ext cx="10899648" cy="530352"/>
          </a:xfrm>
          <a:prstGeom prst="rect">
            <a:avLst/>
          </a:prstGeom>
          <a:solidFill>
            <a:srgbClr val="FFFFFF"/>
          </a:solidFill>
          <a:ln w="5080">
            <a:solidFill>
              <a:srgbClr val="BCC9B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2953512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651760" y="3090672"/>
            <a:ext cx="868680" cy="256032"/>
          </a:xfrm>
          <a:prstGeom prst="rect">
            <a:avLst/>
          </a:prstGeom>
          <a:solidFill>
            <a:srgbClr val="97BC62"/>
          </a:solidFill>
          <a:ln w="12700">
            <a:solidFill>
              <a:srgbClr val="97BC6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651760" y="3090672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840480" y="2953512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 data → shot data + live conditions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046720" y="2953512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Pulls live weather, elevation, and course geometry from public APIs.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1520" y="3483864"/>
            <a:ext cx="10899648" cy="530352"/>
          </a:xfrm>
          <a:prstGeom prst="rect">
            <a:avLst/>
          </a:prstGeom>
          <a:solidFill>
            <a:srgbClr val="DCE5D5"/>
          </a:solidFill>
          <a:ln w="5080">
            <a:solidFill>
              <a:srgbClr val="BCC9B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3483864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651760" y="3621024"/>
            <a:ext cx="868680" cy="256032"/>
          </a:xfrm>
          <a:prstGeom prst="rect">
            <a:avLst/>
          </a:prstGeom>
          <a:solidFill>
            <a:srgbClr val="1F3E20"/>
          </a:solidFill>
          <a:ln w="12700">
            <a:solidFill>
              <a:srgbClr val="1F3E2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651760" y="362102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840480" y="3483864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 + your profile → adjusted distance + club shortlist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046720" y="3483864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Wind, elevation, lie, temperature, altitude — all calculated, not guessed.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31520" y="4014216"/>
            <a:ext cx="10899648" cy="530352"/>
          </a:xfrm>
          <a:prstGeom prst="rect">
            <a:avLst/>
          </a:prstGeom>
          <a:solidFill>
            <a:srgbClr val="FFFFFF"/>
          </a:solidFill>
          <a:ln w="5080">
            <a:solidFill>
              <a:srgbClr val="BCC9B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" y="4014216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Adaptive Strategy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2651760" y="4151376"/>
            <a:ext cx="868680" cy="25603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51760" y="4151376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840480" y="4014216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list of clubs → final pick + risk flags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046720" y="4014216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only re-ranks the shortlist using lie, hazards, and history.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31520" y="4544568"/>
            <a:ext cx="10899648" cy="530352"/>
          </a:xfrm>
          <a:prstGeom prst="rect">
            <a:avLst/>
          </a:prstGeom>
          <a:solidFill>
            <a:srgbClr val="DCE5D5"/>
          </a:solidFill>
          <a:ln w="5080">
            <a:solidFill>
              <a:srgbClr val="BCC9B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2960" y="4544568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Coach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2651760" y="4681728"/>
            <a:ext cx="868680" cy="25603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651760" y="468172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840480" y="4544568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decision → friendly explanation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046720" y="4544568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summary, what was adjusted, and a backup club.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731520" y="5074920"/>
            <a:ext cx="10899648" cy="530352"/>
          </a:xfrm>
          <a:prstGeom prst="rect">
            <a:avLst/>
          </a:prstGeom>
          <a:solidFill>
            <a:srgbClr val="FFFFFF"/>
          </a:solidFill>
          <a:ln w="5080">
            <a:solidFill>
              <a:srgbClr val="BCC9B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22960" y="5074920"/>
            <a:ext cx="1645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Verifier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2651760" y="5212080"/>
            <a:ext cx="868680" cy="256032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651760" y="5212080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840480" y="5074920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 → either approved or rewritten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8046720" y="5074920"/>
            <a:ext cx="3474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LLM drifts, swap in a safe template — every output is grounded.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731520" y="5696712"/>
            <a:ext cx="10899648" cy="530352"/>
          </a:xfrm>
          <a:prstGeom prst="rect">
            <a:avLst/>
          </a:prstGeom>
          <a:solidFill>
            <a:srgbClr val="1F3E20"/>
          </a:solidFill>
          <a:ln w="12700">
            <a:solidFill>
              <a:srgbClr val="1F3E2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31520" y="5696712"/>
            <a:ext cx="91440" cy="530352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60120" y="5696712"/>
            <a:ext cx="10652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this layering?  </a:t>
            </a:r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agent has one job and a strict input/output contract. The math agents set the rules of what’s correct; the LLM agents only get to play inside those rules.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457200" y="6473952"/>
            <a:ext cx="11247120" cy="10973"/>
          </a:xfrm>
          <a:prstGeom prst="rect">
            <a:avLst/>
          </a:prstGeom>
          <a:solidFill>
            <a:srgbClr val="BCC9B5"/>
          </a:solidFill>
          <a:ln w="12700">
            <a:solidFill>
              <a:srgbClr val="BCC9B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57200" y="6510528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Golf Caddy  ·  Group 28  ·  Alex Cannon  ·  CAI 4520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0789920" y="65105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4572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ROLE &amp; CONTRIBUTION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 built (solo group)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group — full ownership of design, code, evaluation, and writeup.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31520" y="2011680"/>
            <a:ext cx="36576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BCC9B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011680"/>
            <a:ext cx="91440" cy="17830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24028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645920" y="2194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7-agent pipeline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1005840" y="288036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and built every agent, the orchestrator that runs them, and the data contracts between them.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0" y="2011680"/>
            <a:ext cx="36576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BCC9B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72000" y="2011680"/>
            <a:ext cx="91440" cy="17830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224028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486400" y="2194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math engine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846320" y="288036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Calculates how far the shot really plays after wind, elevation, lie, temperature, and altitude — plus safety rules for tough lies.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412480" y="2011680"/>
            <a:ext cx="36576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BCC9B5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412480" y="2011680"/>
            <a:ext cx="91440" cy="17830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2240280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326880" y="21945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Real-world data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686800" y="288036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weather, elevation, and course geometry pulled from free public APIs — no paid services.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731520" y="3977640"/>
            <a:ext cx="36576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BCC9B5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731520" y="3977640"/>
            <a:ext cx="91440" cy="17830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4206240"/>
            <a:ext cx="502920" cy="5029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160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Player profiles</a:t>
            </a:r>
            <a:endParaRPr lang="en-US" sz="1600" dirty="0"/>
          </a:p>
        </p:txBody>
      </p:sp>
      <p:sp>
        <p:nvSpPr>
          <p:cNvPr id="25" name="Text 19"/>
          <p:cNvSpPr/>
          <p:nvPr/>
        </p:nvSpPr>
        <p:spPr>
          <a:xfrm>
            <a:off x="1005840" y="484632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Imports your real shot data from TrackMan, Foresight, or Golf Pad, then learns your tendencies as you play.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572000" y="3977640"/>
            <a:ext cx="36576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BCC9B5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4572000" y="3977640"/>
            <a:ext cx="91440" cy="17830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46320" y="4206240"/>
            <a:ext cx="502920" cy="5029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486400" y="4160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Testing + evaluation</a:t>
            </a:r>
            <a:endParaRPr lang="en-US" sz="1600" dirty="0"/>
          </a:p>
        </p:txBody>
      </p:sp>
      <p:sp>
        <p:nvSpPr>
          <p:cNvPr id="30" name="Text 23"/>
          <p:cNvSpPr/>
          <p:nvPr/>
        </p:nvSpPr>
        <p:spPr>
          <a:xfrm>
            <a:off x="4846320" y="484632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my own benchmark scenarios and a logger that captures every real run for analysis later.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8412480" y="3977640"/>
            <a:ext cx="3657600" cy="1783080"/>
          </a:xfrm>
          <a:prstGeom prst="rect">
            <a:avLst/>
          </a:prstGeom>
          <a:solidFill>
            <a:srgbClr val="FFFFFF"/>
          </a:solidFill>
          <a:ln w="6350">
            <a:solidFill>
              <a:srgbClr val="BCC9B5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8412480" y="3977640"/>
            <a:ext cx="91440" cy="178308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0" y="4206240"/>
            <a:ext cx="502920" cy="502920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9326880" y="416052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app itself</a:t>
            </a:r>
            <a:endParaRPr lang="en-US" sz="1600" dirty="0"/>
          </a:p>
        </p:txBody>
      </p:sp>
      <p:sp>
        <p:nvSpPr>
          <p:cNvPr id="35" name="Text 27"/>
          <p:cNvSpPr/>
          <p:nvPr/>
        </p:nvSpPr>
        <p:spPr>
          <a:xfrm>
            <a:off x="8686800" y="4846320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 with both structured and free-text input, course/pin pickers, a feedback loop, and a clean README.</a:t>
            </a:r>
            <a:endParaRPr lang="en-US" sz="1200" dirty="0"/>
          </a:p>
        </p:txBody>
      </p:sp>
      <p:sp>
        <p:nvSpPr>
          <p:cNvPr id="36" name="Shape 28"/>
          <p:cNvSpPr/>
          <p:nvPr/>
        </p:nvSpPr>
        <p:spPr>
          <a:xfrm>
            <a:off x="731520" y="5852160"/>
            <a:ext cx="10698480" cy="566928"/>
          </a:xfrm>
          <a:prstGeom prst="rect">
            <a:avLst/>
          </a:prstGeom>
          <a:solidFill>
            <a:srgbClr val="1F3E20"/>
          </a:solidFill>
          <a:ln w="12700">
            <a:solidFill>
              <a:srgbClr val="1F3E20"/>
            </a:solidFill>
            <a:prstDash val="solid"/>
          </a:ln>
        </p:spPr>
      </p:sp>
      <p:sp>
        <p:nvSpPr>
          <p:cNvPr id="37" name="Shape 29"/>
          <p:cNvSpPr/>
          <p:nvPr/>
        </p:nvSpPr>
        <p:spPr>
          <a:xfrm>
            <a:off x="731520" y="5852160"/>
            <a:ext cx="91440" cy="566928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960120" y="5852160"/>
            <a:ext cx="10469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 stack.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  ·  Pydantic data contracts  ·  </a:t>
            </a:r>
            <a:pPr indent="0" marL="0">
              <a:buNone/>
            </a:pPr>
            <a:r>
              <a:rPr lang="en-US" sz="12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gpt-4o-mini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the 3 LLM agents  ·  Streamlit UI  ·  Open-Meteo · USGS · OSM Overpass  ·  pytest  ·  ~3K LOC</a:t>
            </a:r>
            <a:endParaRPr lang="en-US" sz="1300" dirty="0"/>
          </a:p>
        </p:txBody>
      </p:sp>
      <p:sp>
        <p:nvSpPr>
          <p:cNvPr id="39" name="Shape 31"/>
          <p:cNvSpPr/>
          <p:nvPr/>
        </p:nvSpPr>
        <p:spPr>
          <a:xfrm>
            <a:off x="457200" y="6473952"/>
            <a:ext cx="11247120" cy="10973"/>
          </a:xfrm>
          <a:prstGeom prst="rect">
            <a:avLst/>
          </a:prstGeom>
          <a:solidFill>
            <a:srgbClr val="BCC9B5"/>
          </a:solidFill>
          <a:ln w="12700">
            <a:solidFill>
              <a:srgbClr val="BCC9B5"/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457200" y="6510528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Golf Caddy  ·  Group 28  ·  Alex Cannon  ·  CAI 4520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10789920" y="65105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4572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End-to-end shot, in the app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6035040" cy="4846320"/>
          </a:xfrm>
          <a:prstGeom prst="rect">
            <a:avLst/>
          </a:prstGeom>
          <a:solidFill>
            <a:srgbClr val="FFFFFF"/>
          </a:solidFill>
          <a:ln w="6350">
            <a:solidFill>
              <a:srgbClr val="BCC9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554480"/>
            <a:ext cx="6035040" cy="365760"/>
          </a:xfrm>
          <a:prstGeom prst="rect">
            <a:avLst/>
          </a:prstGeom>
          <a:solidFill>
            <a:srgbClr val="1F3E20"/>
          </a:solidFill>
          <a:ln w="12700">
            <a:solidFill>
              <a:srgbClr val="1F3E2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155448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 ●  ●     localhost:8501  /  Agentic Golf Caddy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201168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your shot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14400" y="2286000"/>
            <a:ext cx="5669280" cy="548640"/>
          </a:xfrm>
          <a:prstGeom prst="rect">
            <a:avLst/>
          </a:prstGeom>
          <a:solidFill>
            <a:srgbClr val="DCE5D5"/>
          </a:solidFill>
          <a:ln w="9525">
            <a:solidFill>
              <a:srgbClr val="97BC6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22860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E1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“145 out, into the wind ~12, ball sitting down a little, back pin, just middle of the green.”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29718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C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shot intent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14400" y="3246120"/>
            <a:ext cx="5669280" cy="777240"/>
          </a:xfrm>
          <a:prstGeom prst="rect">
            <a:avLst/>
          </a:prstGeom>
          <a:solidFill>
            <a:srgbClr val="FFFFFF"/>
          </a:solidFill>
          <a:ln w="6350">
            <a:solidFill>
              <a:srgbClr val="BCC9B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329184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</a:t>
            </a:r>
            <a:pPr indent="0" marL="0">
              <a:buNone/>
            </a:pPr>
            <a:r>
              <a:rPr lang="en-US" sz="1100" b="1" dirty="0">
                <a:solidFill>
                  <a:srgbClr val="1F3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145 yd  </a:t>
            </a:r>
            <a:pPr indent="0" marL="0">
              <a:buNone/>
            </a:pPr>
            <a:r>
              <a:rPr lang="en-US" sz="1100" dirty="0">
                <a:solidFill>
                  <a:srgbClr val="5C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wind </a:t>
            </a:r>
            <a:pPr indent="0" marL="0">
              <a:buNone/>
            </a:pPr>
            <a:r>
              <a:rPr lang="en-US" sz="1100" b="1" dirty="0">
                <a:solidFill>
                  <a:srgbClr val="1F3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mph headwind  </a:t>
            </a:r>
            <a:pPr indent="0" marL="0">
              <a:buNone/>
            </a:pPr>
            <a:r>
              <a:rPr lang="en-US" sz="1100" dirty="0">
                <a:solidFill>
                  <a:srgbClr val="5C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lie </a:t>
            </a:r>
            <a:pPr indent="0" marL="0">
              <a:buNone/>
            </a:pPr>
            <a:r>
              <a:rPr lang="en-US" sz="1100" b="1" dirty="0">
                <a:solidFill>
                  <a:srgbClr val="1F3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rough 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C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 </a:t>
            </a:r>
            <a:pPr indent="0" marL="0">
              <a:buNone/>
            </a:pPr>
            <a:r>
              <a:rPr lang="en-US" sz="1100" b="1" dirty="0">
                <a:solidFill>
                  <a:srgbClr val="1F3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 </a:t>
            </a:r>
            <a:pPr indent="0" marL="0">
              <a:buNone/>
            </a:pPr>
            <a:r>
              <a:rPr lang="en-US" sz="1100" dirty="0">
                <a:solidFill>
                  <a:srgbClr val="5C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target </a:t>
            </a:r>
            <a:pPr indent="0" marL="0">
              <a:buNone/>
            </a:pPr>
            <a:r>
              <a:rPr lang="en-US" sz="1100" b="1" dirty="0">
                <a:solidFill>
                  <a:srgbClr val="1F3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green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14400" y="4160520"/>
            <a:ext cx="5669280" cy="11887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14400" y="4160520"/>
            <a:ext cx="91440" cy="11887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43000" y="4251960"/>
            <a:ext cx="5440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Use your 8-iron.</a:t>
            </a:r>
            <a:endParaRPr lang="en-US" sz="2200" dirty="0"/>
          </a:p>
          <a:p>
            <a:pPr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Plays-like 162 yd  ·  confidence high  ·  backup 9-iron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914400" y="5440680"/>
            <a:ext cx="5669280" cy="868680"/>
          </a:xfrm>
          <a:prstGeom prst="rect">
            <a:avLst/>
          </a:prstGeom>
          <a:solidFill>
            <a:srgbClr val="DCE5D5"/>
          </a:solidFill>
          <a:ln w="5080">
            <a:solidFill>
              <a:srgbClr val="BCC9B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548640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caddie note  </a:t>
            </a:r>
            <a:pPr indent="0" marL="0">
              <a:buNone/>
            </a:pPr>
            <a:r>
              <a:rPr lang="en-US" sz="10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risk_flags: long_side_penalty ]
</a:t>
            </a:r>
            <a:pPr indent="0" marL="0">
              <a:buNone/>
            </a:pPr>
            <a:r>
              <a:rPr lang="en-US" sz="1100" i="1" dirty="0">
                <a:solidFill>
                  <a:srgbClr val="0E1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Ball is sitting down — long side leaves a tough chip. Center green is the smart play; 8-iron lets you take the wind out of the equation.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040880" y="1554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happened under the hood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086600" y="2011680"/>
            <a:ext cx="411480" cy="4114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86600" y="2011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589520" y="1965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Input Interpreter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589520" y="217627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Pulled 5 details from the sentence — nothing was unclear.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086600" y="2578608"/>
            <a:ext cx="411480" cy="4114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86600" y="257860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589520" y="253288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Clarification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589520" y="274320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 enough — no follow-up question needed.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086600" y="3145536"/>
            <a:ext cx="411480" cy="4114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086600" y="314553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589520" y="3099816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Context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589520" y="331012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weather: 12 mph headwind, 71°F, flat ground.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086600" y="3712464"/>
            <a:ext cx="411480" cy="4114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086600" y="37124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7589520" y="3666744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Decision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7589520" y="3877056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 plays like 162 yards — shortlist: 8-iron, 9-iron, 7-iron.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7086600" y="4279392"/>
            <a:ext cx="411480" cy="4114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086600" y="42793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589520" y="4233672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Adaptive Strategy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7589520" y="4443984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the 8-iron; flagged that long-side miss leaves a tough chip.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7086600" y="4846320"/>
            <a:ext cx="411480" cy="4114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086600" y="4846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7589520" y="48006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Coach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589520" y="501091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Wrote the plain-English explanation.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7086600" y="5413248"/>
            <a:ext cx="411480" cy="411480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86600" y="54132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7589520" y="536752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Verifier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7589520" y="557784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C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Fact-checked — every number matches the real decision.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57200" y="6473952"/>
            <a:ext cx="11247120" cy="10973"/>
          </a:xfrm>
          <a:prstGeom prst="rect">
            <a:avLst/>
          </a:prstGeom>
          <a:solidFill>
            <a:srgbClr val="BCC9B5"/>
          </a:solidFill>
          <a:ln w="12700">
            <a:solidFill>
              <a:srgbClr val="BCC9B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57200" y="6510528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Golf Caddy  ·  Group 28  ·  Alex Cannon  ·  CAI 4520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0789920" y="65105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4572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Real-run logging across 1,021 pipeline executions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31520" y="1600200"/>
            <a:ext cx="25374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BCC9B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00200"/>
            <a:ext cx="2537460" cy="914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83080"/>
            <a:ext cx="21717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3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1,021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914400" y="2441448"/>
            <a:ext cx="2171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shots run through the system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697480"/>
            <a:ext cx="2171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+ free-text inputs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51860" y="1600200"/>
            <a:ext cx="25374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BCC9B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51860" y="1600200"/>
            <a:ext cx="2537460" cy="914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34740" y="1783080"/>
            <a:ext cx="21717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3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3634740" y="2441448"/>
            <a:ext cx="2171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explanations passed fact-check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34740" y="2697480"/>
            <a:ext cx="2171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verifier never had to rewrite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72200" y="1600200"/>
            <a:ext cx="25374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BCC9B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2200" y="1600200"/>
            <a:ext cx="2537460" cy="914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1783080"/>
            <a:ext cx="21717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3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9.2%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6355080" y="2441448"/>
            <a:ext cx="2171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needed a follow-up question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55080" y="2697480"/>
            <a:ext cx="2171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when it would change the club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892540" y="1600200"/>
            <a:ext cx="253746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BCC9B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92540" y="1600200"/>
            <a:ext cx="2537460" cy="9144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75420" y="1783080"/>
            <a:ext cx="21717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F3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17%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9075420" y="2441448"/>
            <a:ext cx="21717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 in as plain-English shots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075420" y="2697480"/>
            <a:ext cx="21717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parsed by the Input Interpreter</a:t>
            </a:r>
            <a:endParaRPr lang="en-US" sz="10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731520" y="3246120"/>
          <a:ext cx="6858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6" name="Shape 23"/>
          <p:cNvSpPr/>
          <p:nvPr/>
        </p:nvSpPr>
        <p:spPr>
          <a:xfrm>
            <a:off x="7818120" y="3246120"/>
            <a:ext cx="3794760" cy="3200400"/>
          </a:xfrm>
          <a:prstGeom prst="rect">
            <a:avLst/>
          </a:prstGeom>
          <a:solidFill>
            <a:srgbClr val="1F3E20"/>
          </a:solidFill>
          <a:ln w="12700">
            <a:solidFill>
              <a:srgbClr val="1F3E2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818120" y="3246120"/>
            <a:ext cx="91440" cy="32004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046720" y="3337560"/>
            <a:ext cx="3520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Findings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046720" y="3749040"/>
            <a:ext cx="35204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Across all 927 completed runs, the verifier never had to rewrite the LLM’s explanation.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The safety rule kicked in 4 times to block unrealistic carries from bunkers or deep rough.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The system only asked a follow-up question 9% of the time — only when it really mattered.
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I built 17 test scenarios covering math, club re-ranking, and follow-up question logic.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457200" y="6473952"/>
            <a:ext cx="11247120" cy="10973"/>
          </a:xfrm>
          <a:prstGeom prst="rect">
            <a:avLst/>
          </a:prstGeom>
          <a:solidFill>
            <a:srgbClr val="BCC9B5"/>
          </a:solidFill>
          <a:ln w="12700">
            <a:solidFill>
              <a:srgbClr val="BCC9B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7200" y="6510528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Golf Caddy  ·  Group 28  ·  Alex Cannon  ·  CAI 4520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0789920" y="65105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5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02920"/>
            <a:ext cx="164592" cy="4572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13232" y="457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13232" y="713232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E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app running, end-to-end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2679192" y="1344168"/>
            <a:ext cx="6803136" cy="4306824"/>
          </a:xfrm>
          <a:prstGeom prst="rect">
            <a:avLst/>
          </a:prstGeom>
          <a:solidFill>
            <a:srgbClr val="1F3E20"/>
          </a:solidFill>
          <a:ln w="12700">
            <a:solidFill>
              <a:srgbClr val="1F3E20"/>
            </a:solidFill>
            <a:prstDash val="solid"/>
          </a:ln>
        </p:spPr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2752344" y="1417320"/>
            <a:ext cx="6656832" cy="4160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5742432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you’re about to see:  </a:t>
            </a:r>
            <a:pPr indent="0" marL="0">
              <a:buNone/>
            </a:pPr>
            <a:r>
              <a:rPr lang="en-US" sz="1200" i="1" dirty="0">
                <a:solidFill>
                  <a:srgbClr val="0E1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TrackMan PGA Tour profile loaded → free-text shot pasted in → 5 fields parsed → adjusted distance + club shortlist → final pick + plain-English explanation. Click the video to play.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6473952"/>
            <a:ext cx="11247120" cy="10973"/>
          </a:xfrm>
          <a:prstGeom prst="rect">
            <a:avLst/>
          </a:prstGeom>
          <a:solidFill>
            <a:srgbClr val="BCC9B5"/>
          </a:solidFill>
          <a:ln w="12700">
            <a:solidFill>
              <a:srgbClr val="BCC9B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6510528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Golf Caddy  ·  Group 28  ·  Alex Cannon  ·  CAI 4520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789920" y="6510528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E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02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·  QUESTIONS WELCOME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96012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the answer has to be right, small specialized agents beat one big LLM.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2468880"/>
            <a:ext cx="5349240" cy="3017520"/>
          </a:xfrm>
          <a:prstGeom prst="rect">
            <a:avLst/>
          </a:prstGeom>
          <a:solidFill>
            <a:srgbClr val="274D28"/>
          </a:solidFill>
          <a:ln w="12700">
            <a:solidFill>
              <a:srgbClr val="274D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468880"/>
            <a:ext cx="91440" cy="30175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2560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3017520"/>
            <a:ext cx="5074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It’s a caddy that helps you decide — not a full swing simulator.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math is tuned for typical player profiles, so very unusual swings will be less accurate.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only re-ranks the shortlist, so it can only be as good as the math-based ranking it starts from.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can’t account for the actual swing — once the ball leaves the club, you’re on your own.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63640" y="2468880"/>
            <a:ext cx="5349240" cy="3017520"/>
          </a:xfrm>
          <a:prstGeom prst="rect">
            <a:avLst/>
          </a:prstGeom>
          <a:solidFill>
            <a:srgbClr val="274D28"/>
          </a:solidFill>
          <a:ln w="12700">
            <a:solidFill>
              <a:srgbClr val="274D2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2468880"/>
            <a:ext cx="91440" cy="301752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5603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work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492240" y="3017520"/>
            <a:ext cx="50749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lie automatically from a quick phone photo of the ball.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 the club rankings for each golfer using their own shot feedback over time.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 into Arccos or Shot Scope so it learns from every real shot, not just logged ones.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voice interface so it works hands-free while you’re actually on the course.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5715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Alex Cannon  </a:t>
            </a:r>
            <a:pPr indent="0" marL="0">
              <a:buNone/>
            </a:pPr>
            <a:r>
              <a:rPr lang="en-US" sz="12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Group 28  ·  CAI 4520, April 2026  ·  </a:t>
            </a:r>
            <a:pPr indent="0" marL="0">
              <a:buNone/>
            </a:pPr>
            <a:r>
              <a:rPr lang="en-US" sz="120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GitHub: github.com/alex-cannon/agentic-golf-caddy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881360" y="6355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Agentic Golf Caddy — Final Presentation</dc:title>
  <dc:subject>PptxGenJS Presentation</dc:subject>
  <dc:creator>Alex Cannon</dc:creator>
  <cp:lastModifiedBy>Alex Cannon</cp:lastModifiedBy>
  <cp:revision>1</cp:revision>
  <dcterms:created xsi:type="dcterms:W3CDTF">2026-04-28T02:28:25Z</dcterms:created>
  <dcterms:modified xsi:type="dcterms:W3CDTF">2026-04-28T02:28:25Z</dcterms:modified>
</cp:coreProperties>
</file>